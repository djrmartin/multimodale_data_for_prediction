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6" r:id="rId2"/>
  </p:sldIdLst>
  <p:sldSz cx="3060700" cy="1800225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97AF"/>
    <a:srgbClr val="D79B72"/>
    <a:srgbClr val="F3CDB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310"/>
    <p:restoredTop sz="94590"/>
  </p:normalViewPr>
  <p:slideViewPr>
    <p:cSldViewPr snapToGrid="0">
      <p:cViewPr varScale="1">
        <p:scale>
          <a:sx n="400" d="100"/>
          <a:sy n="400" d="100"/>
        </p:scale>
        <p:origin x="6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82588" y="294620"/>
            <a:ext cx="2295525" cy="626745"/>
          </a:xfrm>
        </p:spPr>
        <p:txBody>
          <a:bodyPr anchor="b"/>
          <a:lstStyle>
            <a:lvl1pPr algn="ctr">
              <a:defRPr sz="1506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82588" y="945535"/>
            <a:ext cx="2295525" cy="434638"/>
          </a:xfrm>
        </p:spPr>
        <p:txBody>
          <a:bodyPr/>
          <a:lstStyle>
            <a:lvl1pPr marL="0" indent="0" algn="ctr">
              <a:buNone/>
              <a:defRPr sz="602"/>
            </a:lvl1pPr>
            <a:lvl2pPr marL="114757" indent="0" algn="ctr">
              <a:buNone/>
              <a:defRPr sz="502"/>
            </a:lvl2pPr>
            <a:lvl3pPr marL="229514" indent="0" algn="ctr">
              <a:buNone/>
              <a:defRPr sz="452"/>
            </a:lvl3pPr>
            <a:lvl4pPr marL="344272" indent="0" algn="ctr">
              <a:buNone/>
              <a:defRPr sz="402"/>
            </a:lvl4pPr>
            <a:lvl5pPr marL="459029" indent="0" algn="ctr">
              <a:buNone/>
              <a:defRPr sz="402"/>
            </a:lvl5pPr>
            <a:lvl6pPr marL="573786" indent="0" algn="ctr">
              <a:buNone/>
              <a:defRPr sz="402"/>
            </a:lvl6pPr>
            <a:lvl7pPr marL="688543" indent="0" algn="ctr">
              <a:buNone/>
              <a:defRPr sz="402"/>
            </a:lvl7pPr>
            <a:lvl8pPr marL="803300" indent="0" algn="ctr">
              <a:buNone/>
              <a:defRPr sz="402"/>
            </a:lvl8pPr>
            <a:lvl9pPr marL="918058" indent="0" algn="ctr">
              <a:buNone/>
              <a:defRPr sz="402"/>
            </a:lvl9pPr>
          </a:lstStyle>
          <a:p>
            <a:r>
              <a:rPr lang="fr-FR"/>
              <a:t>Modifiez le style des sous-titres du masque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202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13643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08829" y="448807"/>
            <a:ext cx="2639854" cy="748843"/>
          </a:xfrm>
        </p:spPr>
        <p:txBody>
          <a:bodyPr anchor="b"/>
          <a:lstStyle>
            <a:lvl1pPr>
              <a:defRPr sz="1506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08829" y="1204734"/>
            <a:ext cx="2639854" cy="393799"/>
          </a:xfrm>
        </p:spPr>
        <p:txBody>
          <a:bodyPr/>
          <a:lstStyle>
            <a:lvl1pPr marL="0" indent="0">
              <a:buNone/>
              <a:defRPr sz="602">
                <a:solidFill>
                  <a:schemeClr val="tx1">
                    <a:tint val="75000"/>
                  </a:schemeClr>
                </a:solidFill>
              </a:defRPr>
            </a:lvl1pPr>
            <a:lvl2pPr marL="114757" indent="0">
              <a:buNone/>
              <a:defRPr sz="502">
                <a:solidFill>
                  <a:schemeClr val="tx1">
                    <a:tint val="75000"/>
                  </a:schemeClr>
                </a:solidFill>
              </a:defRPr>
            </a:lvl2pPr>
            <a:lvl3pPr marL="229514" indent="0">
              <a:buNone/>
              <a:defRPr sz="452">
                <a:solidFill>
                  <a:schemeClr val="tx1">
                    <a:tint val="75000"/>
                  </a:schemeClr>
                </a:solidFill>
              </a:defRPr>
            </a:lvl3pPr>
            <a:lvl4pPr marL="344272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4pPr>
            <a:lvl5pPr marL="459029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5pPr>
            <a:lvl6pPr marL="573786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6pPr>
            <a:lvl7pPr marL="688543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7pPr>
            <a:lvl8pPr marL="803300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8pPr>
            <a:lvl9pPr marL="918058" indent="0">
              <a:buNone/>
              <a:defRPr sz="402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9757720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10423" y="479227"/>
            <a:ext cx="1300798" cy="114222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549479" y="479227"/>
            <a:ext cx="1300798" cy="1142226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296812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95846"/>
            <a:ext cx="2639854" cy="347960"/>
          </a:xfrm>
        </p:spPr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822" y="441305"/>
            <a:ext cx="1294819" cy="216277"/>
          </a:xfrm>
        </p:spPr>
        <p:txBody>
          <a:bodyPr anchor="b"/>
          <a:lstStyle>
            <a:lvl1pPr marL="0" indent="0">
              <a:buNone/>
              <a:defRPr sz="602" b="1"/>
            </a:lvl1pPr>
            <a:lvl2pPr marL="114757" indent="0">
              <a:buNone/>
              <a:defRPr sz="502" b="1"/>
            </a:lvl2pPr>
            <a:lvl3pPr marL="229514" indent="0">
              <a:buNone/>
              <a:defRPr sz="452" b="1"/>
            </a:lvl3pPr>
            <a:lvl4pPr marL="344272" indent="0">
              <a:buNone/>
              <a:defRPr sz="402" b="1"/>
            </a:lvl4pPr>
            <a:lvl5pPr marL="459029" indent="0">
              <a:buNone/>
              <a:defRPr sz="402" b="1"/>
            </a:lvl5pPr>
            <a:lvl6pPr marL="573786" indent="0">
              <a:buNone/>
              <a:defRPr sz="402" b="1"/>
            </a:lvl6pPr>
            <a:lvl7pPr marL="688543" indent="0">
              <a:buNone/>
              <a:defRPr sz="402" b="1"/>
            </a:lvl7pPr>
            <a:lvl8pPr marL="803300" indent="0">
              <a:buNone/>
              <a:defRPr sz="402" b="1"/>
            </a:lvl8pPr>
            <a:lvl9pPr marL="918058" indent="0">
              <a:buNone/>
              <a:defRPr sz="402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10822" y="657582"/>
            <a:ext cx="1294819" cy="9672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549479" y="441305"/>
            <a:ext cx="1301196" cy="216277"/>
          </a:xfrm>
        </p:spPr>
        <p:txBody>
          <a:bodyPr anchor="b"/>
          <a:lstStyle>
            <a:lvl1pPr marL="0" indent="0">
              <a:buNone/>
              <a:defRPr sz="602" b="1"/>
            </a:lvl1pPr>
            <a:lvl2pPr marL="114757" indent="0">
              <a:buNone/>
              <a:defRPr sz="502" b="1"/>
            </a:lvl2pPr>
            <a:lvl3pPr marL="229514" indent="0">
              <a:buNone/>
              <a:defRPr sz="452" b="1"/>
            </a:lvl3pPr>
            <a:lvl4pPr marL="344272" indent="0">
              <a:buNone/>
              <a:defRPr sz="402" b="1"/>
            </a:lvl4pPr>
            <a:lvl5pPr marL="459029" indent="0">
              <a:buNone/>
              <a:defRPr sz="402" b="1"/>
            </a:lvl5pPr>
            <a:lvl6pPr marL="573786" indent="0">
              <a:buNone/>
              <a:defRPr sz="402" b="1"/>
            </a:lvl6pPr>
            <a:lvl7pPr marL="688543" indent="0">
              <a:buNone/>
              <a:defRPr sz="402" b="1"/>
            </a:lvl7pPr>
            <a:lvl8pPr marL="803300" indent="0">
              <a:buNone/>
              <a:defRPr sz="402" b="1"/>
            </a:lvl8pPr>
            <a:lvl9pPr marL="918058" indent="0">
              <a:buNone/>
              <a:defRPr sz="402" b="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549479" y="657582"/>
            <a:ext cx="1301196" cy="967204"/>
          </a:xfrm>
        </p:spPr>
        <p:txBody>
          <a:bodyPr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74996574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747925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2832508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20015"/>
            <a:ext cx="987155" cy="420053"/>
          </a:xfrm>
        </p:spPr>
        <p:txBody>
          <a:bodyPr anchor="b"/>
          <a:lstStyle>
            <a:lvl1pPr>
              <a:defRPr sz="803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01196" y="259199"/>
            <a:ext cx="1549479" cy="1279327"/>
          </a:xfrm>
        </p:spPr>
        <p:txBody>
          <a:bodyPr/>
          <a:lstStyle>
            <a:lvl1pPr>
              <a:defRPr sz="803"/>
            </a:lvl1pPr>
            <a:lvl2pPr>
              <a:defRPr sz="703"/>
            </a:lvl2pPr>
            <a:lvl3pPr>
              <a:defRPr sz="602"/>
            </a:lvl3pPr>
            <a:lvl4pPr>
              <a:defRPr sz="502"/>
            </a:lvl4pPr>
            <a:lvl5pPr>
              <a:defRPr sz="502"/>
            </a:lvl5pPr>
            <a:lvl6pPr>
              <a:defRPr sz="502"/>
            </a:lvl6pPr>
            <a:lvl7pPr>
              <a:defRPr sz="502"/>
            </a:lvl7pPr>
            <a:lvl8pPr>
              <a:defRPr sz="502"/>
            </a:lvl8pPr>
            <a:lvl9pPr>
              <a:defRPr sz="502"/>
            </a:lvl9pPr>
          </a:lstStyle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540067"/>
            <a:ext cx="987155" cy="1000542"/>
          </a:xfrm>
        </p:spPr>
        <p:txBody>
          <a:bodyPr/>
          <a:lstStyle>
            <a:lvl1pPr marL="0" indent="0">
              <a:buNone/>
              <a:defRPr sz="402"/>
            </a:lvl1pPr>
            <a:lvl2pPr marL="114757" indent="0">
              <a:buNone/>
              <a:defRPr sz="351"/>
            </a:lvl2pPr>
            <a:lvl3pPr marL="229514" indent="0">
              <a:buNone/>
              <a:defRPr sz="301"/>
            </a:lvl3pPr>
            <a:lvl4pPr marL="344272" indent="0">
              <a:buNone/>
              <a:defRPr sz="251"/>
            </a:lvl4pPr>
            <a:lvl5pPr marL="459029" indent="0">
              <a:buNone/>
              <a:defRPr sz="251"/>
            </a:lvl5pPr>
            <a:lvl6pPr marL="573786" indent="0">
              <a:buNone/>
              <a:defRPr sz="251"/>
            </a:lvl6pPr>
            <a:lvl7pPr marL="688543" indent="0">
              <a:buNone/>
              <a:defRPr sz="251"/>
            </a:lvl7pPr>
            <a:lvl8pPr marL="803300" indent="0">
              <a:buNone/>
              <a:defRPr sz="251"/>
            </a:lvl8pPr>
            <a:lvl9pPr marL="918058" indent="0">
              <a:buNone/>
              <a:defRPr sz="25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6292809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0822" y="120015"/>
            <a:ext cx="987155" cy="420053"/>
          </a:xfrm>
        </p:spPr>
        <p:txBody>
          <a:bodyPr anchor="b"/>
          <a:lstStyle>
            <a:lvl1pPr>
              <a:defRPr sz="803"/>
            </a:lvl1pPr>
          </a:lstStyle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301196" y="259199"/>
            <a:ext cx="1549479" cy="1279327"/>
          </a:xfrm>
        </p:spPr>
        <p:txBody>
          <a:bodyPr anchor="t"/>
          <a:lstStyle>
            <a:lvl1pPr marL="0" indent="0">
              <a:buNone/>
              <a:defRPr sz="803"/>
            </a:lvl1pPr>
            <a:lvl2pPr marL="114757" indent="0">
              <a:buNone/>
              <a:defRPr sz="703"/>
            </a:lvl2pPr>
            <a:lvl3pPr marL="229514" indent="0">
              <a:buNone/>
              <a:defRPr sz="602"/>
            </a:lvl3pPr>
            <a:lvl4pPr marL="344272" indent="0">
              <a:buNone/>
              <a:defRPr sz="502"/>
            </a:lvl4pPr>
            <a:lvl5pPr marL="459029" indent="0">
              <a:buNone/>
              <a:defRPr sz="502"/>
            </a:lvl5pPr>
            <a:lvl6pPr marL="573786" indent="0">
              <a:buNone/>
              <a:defRPr sz="502"/>
            </a:lvl6pPr>
            <a:lvl7pPr marL="688543" indent="0">
              <a:buNone/>
              <a:defRPr sz="502"/>
            </a:lvl7pPr>
            <a:lvl8pPr marL="803300" indent="0">
              <a:buNone/>
              <a:defRPr sz="502"/>
            </a:lvl8pPr>
            <a:lvl9pPr marL="918058" indent="0">
              <a:buNone/>
              <a:defRPr sz="502"/>
            </a:lvl9pPr>
          </a:lstStyle>
          <a:p>
            <a:r>
              <a:rPr lang="fr-FR"/>
              <a:t>Cliquez sur l'icône pour ajouter une image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10822" y="540067"/>
            <a:ext cx="987155" cy="1000542"/>
          </a:xfrm>
        </p:spPr>
        <p:txBody>
          <a:bodyPr/>
          <a:lstStyle>
            <a:lvl1pPr marL="0" indent="0">
              <a:buNone/>
              <a:defRPr sz="402"/>
            </a:lvl1pPr>
            <a:lvl2pPr marL="114757" indent="0">
              <a:buNone/>
              <a:defRPr sz="351"/>
            </a:lvl2pPr>
            <a:lvl3pPr marL="229514" indent="0">
              <a:buNone/>
              <a:defRPr sz="301"/>
            </a:lvl3pPr>
            <a:lvl4pPr marL="344272" indent="0">
              <a:buNone/>
              <a:defRPr sz="251"/>
            </a:lvl4pPr>
            <a:lvl5pPr marL="459029" indent="0">
              <a:buNone/>
              <a:defRPr sz="251"/>
            </a:lvl5pPr>
            <a:lvl6pPr marL="573786" indent="0">
              <a:buNone/>
              <a:defRPr sz="251"/>
            </a:lvl6pPr>
            <a:lvl7pPr marL="688543" indent="0">
              <a:buNone/>
              <a:defRPr sz="251"/>
            </a:lvl7pPr>
            <a:lvl8pPr marL="803300" indent="0">
              <a:buNone/>
              <a:defRPr sz="251"/>
            </a:lvl8pPr>
            <a:lvl9pPr marL="918058" indent="0">
              <a:buNone/>
              <a:defRPr sz="251"/>
            </a:lvl9pPr>
          </a:lstStyle>
          <a:p>
            <a:pPr lvl="0"/>
            <a:r>
              <a:rPr lang="fr-FR"/>
              <a:t>Cliquez pour modifier les styles du texte du masque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284899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468298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2190314" y="95846"/>
            <a:ext cx="659963" cy="1525607"/>
          </a:xfrm>
        </p:spPr>
        <p:txBody>
          <a:bodyPr vert="eaVert"/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10423" y="95846"/>
            <a:ext cx="1941632" cy="1525607"/>
          </a:xfrm>
        </p:spPr>
        <p:txBody>
          <a:bodyPr vert="eaVert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9809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0423" y="95846"/>
            <a:ext cx="2639854" cy="3479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/>
              <a:t>Modifiez le style du titre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0423" y="479227"/>
            <a:ext cx="2639854" cy="11422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0423" y="1668542"/>
            <a:ext cx="688658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3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BEA1657-D339-8D48-A767-F3751133C75B}" type="datetimeFigureOut">
              <a:rPr lang="fr-FR" smtClean="0"/>
              <a:t>08/08/2025</a:t>
            </a:fld>
            <a:endParaRPr lang="fr-F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013857" y="1668542"/>
            <a:ext cx="1032986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3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2161619" y="1668542"/>
            <a:ext cx="688658" cy="9584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301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D5DD9E6-7BAF-EC44-BE55-8D6225C736BE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7027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229514" rtl="0" eaLnBrk="1" latinLnBrk="0" hangingPunct="1">
        <a:lnSpc>
          <a:spcPct val="90000"/>
        </a:lnSpc>
        <a:spcBef>
          <a:spcPct val="0"/>
        </a:spcBef>
        <a:buNone/>
        <a:defRPr sz="110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379" indent="-57379" algn="l" defTabSz="229514" rtl="0" eaLnBrk="1" latinLnBrk="0" hangingPunct="1">
        <a:lnSpc>
          <a:spcPct val="90000"/>
        </a:lnSpc>
        <a:spcBef>
          <a:spcPts val="251"/>
        </a:spcBef>
        <a:buFont typeface="Arial" panose="020B0604020202020204" pitchFamily="34" charset="0"/>
        <a:buChar char="•"/>
        <a:defRPr sz="703" kern="1200">
          <a:solidFill>
            <a:schemeClr val="tx1"/>
          </a:solidFill>
          <a:latin typeface="+mn-lt"/>
          <a:ea typeface="+mn-ea"/>
          <a:cs typeface="+mn-cs"/>
        </a:defRPr>
      </a:lvl1pPr>
      <a:lvl2pPr marL="172136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602" kern="1200">
          <a:solidFill>
            <a:schemeClr val="tx1"/>
          </a:solidFill>
          <a:latin typeface="+mn-lt"/>
          <a:ea typeface="+mn-ea"/>
          <a:cs typeface="+mn-cs"/>
        </a:defRPr>
      </a:lvl2pPr>
      <a:lvl3pPr marL="286893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502" kern="1200">
          <a:solidFill>
            <a:schemeClr val="tx1"/>
          </a:solidFill>
          <a:latin typeface="+mn-lt"/>
          <a:ea typeface="+mn-ea"/>
          <a:cs typeface="+mn-cs"/>
        </a:defRPr>
      </a:lvl3pPr>
      <a:lvl4pPr marL="401650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4pPr>
      <a:lvl5pPr marL="516407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5pPr>
      <a:lvl6pPr marL="631165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6pPr>
      <a:lvl7pPr marL="745922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7pPr>
      <a:lvl8pPr marL="860679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8pPr>
      <a:lvl9pPr marL="975436" indent="-57379" algn="l" defTabSz="229514" rtl="0" eaLnBrk="1" latinLnBrk="0" hangingPunct="1">
        <a:lnSpc>
          <a:spcPct val="90000"/>
        </a:lnSpc>
        <a:spcBef>
          <a:spcPts val="125"/>
        </a:spcBef>
        <a:buFont typeface="Arial" panose="020B0604020202020204" pitchFamily="34" charset="0"/>
        <a:buChar char="•"/>
        <a:defRPr sz="452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1pPr>
      <a:lvl2pPr marL="114757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2pPr>
      <a:lvl3pPr marL="229514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3pPr>
      <a:lvl4pPr marL="344272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4pPr>
      <a:lvl5pPr marL="459029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5pPr>
      <a:lvl6pPr marL="573786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6pPr>
      <a:lvl7pPr marL="688543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7pPr>
      <a:lvl8pPr marL="803300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8pPr>
      <a:lvl9pPr marL="918058" algn="l" defTabSz="229514" rtl="0" eaLnBrk="1" latinLnBrk="0" hangingPunct="1">
        <a:defRPr sz="45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1.svg"/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12" Type="http://schemas.openxmlformats.org/officeDocument/2006/relationships/image" Target="../media/image10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microsoft.com/office/2007/relationships/hdphoto" Target="../media/hdphoto1.wdp"/><Relationship Id="rId5" Type="http://schemas.openxmlformats.org/officeDocument/2006/relationships/image" Target="../media/image4.sv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Rectangle : coins arrondis 25">
            <a:extLst>
              <a:ext uri="{FF2B5EF4-FFF2-40B4-BE49-F238E27FC236}">
                <a16:creationId xmlns:a16="http://schemas.microsoft.com/office/drawing/2014/main" id="{4971E60C-6382-A0C5-9259-DCC484D47BF6}"/>
              </a:ext>
            </a:extLst>
          </p:cNvPr>
          <p:cNvSpPr/>
          <p:nvPr/>
        </p:nvSpPr>
        <p:spPr>
          <a:xfrm>
            <a:off x="1886377" y="1089840"/>
            <a:ext cx="1101272" cy="67260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5" name="Rectangle : coins arrondis 24">
            <a:extLst>
              <a:ext uri="{FF2B5EF4-FFF2-40B4-BE49-F238E27FC236}">
                <a16:creationId xmlns:a16="http://schemas.microsoft.com/office/drawing/2014/main" id="{61C17AA7-C057-2040-0644-06DE608EAB34}"/>
              </a:ext>
            </a:extLst>
          </p:cNvPr>
          <p:cNvSpPr/>
          <p:nvPr/>
        </p:nvSpPr>
        <p:spPr>
          <a:xfrm>
            <a:off x="1880469" y="151079"/>
            <a:ext cx="1101272" cy="672602"/>
          </a:xfrm>
          <a:prstGeom prst="roundRect">
            <a:avLst/>
          </a:prstGeom>
          <a:solidFill>
            <a:schemeClr val="bg2">
              <a:lumMod val="9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pic>
        <p:nvPicPr>
          <p:cNvPr id="5" name="Graphique 4" descr="Rat avec un remplissage uni">
            <a:extLst>
              <a:ext uri="{FF2B5EF4-FFF2-40B4-BE49-F238E27FC236}">
                <a16:creationId xmlns:a16="http://schemas.microsoft.com/office/drawing/2014/main" id="{D95282AF-0761-BEED-FD55-D3B8D5A08E5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24681" y="223854"/>
            <a:ext cx="359084" cy="359084"/>
          </a:xfrm>
          <a:prstGeom prst="rect">
            <a:avLst/>
          </a:prstGeom>
        </p:spPr>
      </p:pic>
      <p:pic>
        <p:nvPicPr>
          <p:cNvPr id="6" name="Graphique 5" descr="Rat avec un remplissage uni">
            <a:extLst>
              <a:ext uri="{FF2B5EF4-FFF2-40B4-BE49-F238E27FC236}">
                <a16:creationId xmlns:a16="http://schemas.microsoft.com/office/drawing/2014/main" id="{A310F942-B8BE-E368-D783-767C3D29F71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08209" y="223854"/>
            <a:ext cx="359084" cy="359084"/>
          </a:xfrm>
          <a:prstGeom prst="rect">
            <a:avLst/>
          </a:prstGeom>
        </p:spPr>
      </p:pic>
      <p:pic>
        <p:nvPicPr>
          <p:cNvPr id="7" name="Graphique 6" descr="Rat avec un remplissage uni">
            <a:extLst>
              <a:ext uri="{FF2B5EF4-FFF2-40B4-BE49-F238E27FC236}">
                <a16:creationId xmlns:a16="http://schemas.microsoft.com/office/drawing/2014/main" id="{020E1162-D240-D844-7C44-1955E753BC6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1208209" y="798360"/>
            <a:ext cx="359084" cy="359084"/>
          </a:xfrm>
          <a:prstGeom prst="rect">
            <a:avLst/>
          </a:prstGeom>
        </p:spPr>
      </p:pic>
      <p:pic>
        <p:nvPicPr>
          <p:cNvPr id="8" name="Graphique 7" descr="Rat avec un remplissage uni">
            <a:extLst>
              <a:ext uri="{FF2B5EF4-FFF2-40B4-BE49-F238E27FC236}">
                <a16:creationId xmlns:a16="http://schemas.microsoft.com/office/drawing/2014/main" id="{70A8E6C7-834A-A524-C838-95127D7E06A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24681" y="795840"/>
            <a:ext cx="359084" cy="359084"/>
          </a:xfrm>
          <a:prstGeom prst="rect">
            <a:avLst/>
          </a:prstGeom>
        </p:spPr>
      </p:pic>
      <p:sp>
        <p:nvSpPr>
          <p:cNvPr id="9" name="Triangle rectangle 8">
            <a:extLst>
              <a:ext uri="{FF2B5EF4-FFF2-40B4-BE49-F238E27FC236}">
                <a16:creationId xmlns:a16="http://schemas.microsoft.com/office/drawing/2014/main" id="{8B6EEFF9-AB90-A1FB-414F-4A41EAE5BC81}"/>
              </a:ext>
            </a:extLst>
          </p:cNvPr>
          <p:cNvSpPr/>
          <p:nvPr/>
        </p:nvSpPr>
        <p:spPr>
          <a:xfrm rot="10800000">
            <a:off x="38554" y="220559"/>
            <a:ext cx="323396" cy="1104674"/>
          </a:xfrm>
          <a:prstGeom prst="rtTriangle">
            <a:avLst/>
          </a:prstGeom>
          <a:gradFill>
            <a:gsLst>
              <a:gs pos="0">
                <a:schemeClr val="accent2">
                  <a:lumMod val="20000"/>
                  <a:lumOff val="8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1" name="Triangle rectangle 10">
            <a:extLst>
              <a:ext uri="{FF2B5EF4-FFF2-40B4-BE49-F238E27FC236}">
                <a16:creationId xmlns:a16="http://schemas.microsoft.com/office/drawing/2014/main" id="{8D295EA9-B31F-6C15-03E3-C53541C68FA1}"/>
              </a:ext>
            </a:extLst>
          </p:cNvPr>
          <p:cNvSpPr/>
          <p:nvPr/>
        </p:nvSpPr>
        <p:spPr>
          <a:xfrm rot="5400000" flipV="1">
            <a:off x="918816" y="869778"/>
            <a:ext cx="359085" cy="1377229"/>
          </a:xfrm>
          <a:prstGeom prst="rtTriangle">
            <a:avLst/>
          </a:prstGeom>
          <a:gradFill>
            <a:gsLst>
              <a:gs pos="0">
                <a:schemeClr val="tx2">
                  <a:lumMod val="20000"/>
                  <a:lumOff val="80000"/>
                </a:schemeClr>
              </a:gs>
              <a:gs pos="100000">
                <a:schemeClr val="tx2">
                  <a:lumMod val="60000"/>
                  <a:lumOff val="40000"/>
                </a:schemeClr>
              </a:gs>
            </a:gsLst>
            <a:lin ang="5400000" scaled="1"/>
          </a:gradFill>
          <a:ln w="31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E30A9784-F903-E081-A035-D37FF64EA31A}"/>
              </a:ext>
            </a:extLst>
          </p:cNvPr>
          <p:cNvSpPr txBox="1"/>
          <p:nvPr/>
        </p:nvSpPr>
        <p:spPr>
          <a:xfrm>
            <a:off x="735206" y="1574946"/>
            <a:ext cx="622575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Steatosis</a:t>
            </a:r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3DDAA25-2A89-55C5-95E6-78F029DE4014}"/>
              </a:ext>
            </a:extLst>
          </p:cNvPr>
          <p:cNvSpPr txBox="1"/>
          <p:nvPr/>
        </p:nvSpPr>
        <p:spPr>
          <a:xfrm rot="16200000">
            <a:off x="-420453" y="701679"/>
            <a:ext cx="1042386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800" dirty="0"/>
              <a:t>Iron content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78CB557-5A83-F839-8D4E-8399CCB4A383}"/>
              </a:ext>
            </a:extLst>
          </p:cNvPr>
          <p:cNvSpPr txBox="1"/>
          <p:nvPr/>
        </p:nvSpPr>
        <p:spPr>
          <a:xfrm>
            <a:off x="391349" y="1060378"/>
            <a:ext cx="6225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CTL</a:t>
            </a:r>
          </a:p>
          <a:p>
            <a:pPr algn="ctr"/>
            <a:r>
              <a:rPr lang="en-GB" sz="800" dirty="0"/>
              <a:t>(n=24)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C20F5CA-DA22-73B2-63F5-BD62BE840DF7}"/>
              </a:ext>
            </a:extLst>
          </p:cNvPr>
          <p:cNvSpPr txBox="1"/>
          <p:nvPr/>
        </p:nvSpPr>
        <p:spPr>
          <a:xfrm>
            <a:off x="1105445" y="1060378"/>
            <a:ext cx="62257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HFHC</a:t>
            </a:r>
          </a:p>
          <a:p>
            <a:pPr algn="ctr"/>
            <a:r>
              <a:rPr lang="en-GB" sz="800" dirty="0"/>
              <a:t>(n=23)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5FDD35C4-58A7-3857-21E4-22CA0C831B3C}"/>
              </a:ext>
            </a:extLst>
          </p:cNvPr>
          <p:cNvSpPr txBox="1"/>
          <p:nvPr/>
        </p:nvSpPr>
        <p:spPr>
          <a:xfrm>
            <a:off x="1046494" y="485126"/>
            <a:ext cx="74047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IRON + HFHC</a:t>
            </a:r>
          </a:p>
          <a:p>
            <a:pPr algn="ctr"/>
            <a:r>
              <a:rPr lang="en-GB" sz="800" dirty="0"/>
              <a:t>(n=23)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6939D2B1-0A21-1FCA-485F-0BADFA85403D}"/>
              </a:ext>
            </a:extLst>
          </p:cNvPr>
          <p:cNvSpPr txBox="1"/>
          <p:nvPr/>
        </p:nvSpPr>
        <p:spPr>
          <a:xfrm>
            <a:off x="432132" y="485126"/>
            <a:ext cx="54418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800" dirty="0"/>
              <a:t>IRON</a:t>
            </a:r>
          </a:p>
          <a:p>
            <a:pPr algn="ctr"/>
            <a:r>
              <a:rPr lang="en-GB" sz="800" dirty="0"/>
              <a:t>(n=25)</a:t>
            </a:r>
          </a:p>
        </p:txBody>
      </p:sp>
      <p:pic>
        <p:nvPicPr>
          <p:cNvPr id="19" name="Image 18">
            <a:extLst>
              <a:ext uri="{FF2B5EF4-FFF2-40B4-BE49-F238E27FC236}">
                <a16:creationId xmlns:a16="http://schemas.microsoft.com/office/drawing/2014/main" id="{D4D932F7-E73A-F302-1FA3-CBB312E255A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BEBA8EAE-BF5A-486C-A8C5-ECC9F3942E4B}">
                <a14:imgProps xmlns:a14="http://schemas.microsoft.com/office/drawing/2010/main">
                  <a14:imgLayer r:embed="rId11">
                    <a14:imgEffect>
                      <a14:backgroundRemoval t="10000" b="90000" l="10000" r="9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920305" y="1025673"/>
            <a:ext cx="463054" cy="463054"/>
          </a:xfrm>
          <a:prstGeom prst="rect">
            <a:avLst/>
          </a:prstGeom>
        </p:spPr>
      </p:pic>
      <p:sp>
        <p:nvSpPr>
          <p:cNvPr id="20" name="ZoneTexte 19">
            <a:extLst>
              <a:ext uri="{FF2B5EF4-FFF2-40B4-BE49-F238E27FC236}">
                <a16:creationId xmlns:a16="http://schemas.microsoft.com/office/drawing/2014/main" id="{AB3E792D-8D13-79A0-6317-E7115391C1BD}"/>
              </a:ext>
            </a:extLst>
          </p:cNvPr>
          <p:cNvSpPr txBox="1"/>
          <p:nvPr/>
        </p:nvSpPr>
        <p:spPr>
          <a:xfrm>
            <a:off x="1907351" y="454348"/>
            <a:ext cx="1112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" dirty="0"/>
              <a:t>- Biochemical</a:t>
            </a:r>
          </a:p>
          <a:p>
            <a:r>
              <a:rPr lang="en-GB" sz="600" dirty="0"/>
              <a:t>- Mid-infrared spectroscopy</a:t>
            </a:r>
          </a:p>
          <a:p>
            <a:r>
              <a:rPr lang="en-GB" sz="600" dirty="0"/>
              <a:t>- </a:t>
            </a:r>
            <a:r>
              <a:rPr lang="en-GB" sz="600" dirty="0" err="1"/>
              <a:t>Metallomic</a:t>
            </a:r>
            <a:endParaRPr lang="en-GB" sz="600" dirty="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DCE83941-E47F-2BF0-6D02-217DD8C608B2}"/>
              </a:ext>
            </a:extLst>
          </p:cNvPr>
          <p:cNvSpPr txBox="1"/>
          <p:nvPr/>
        </p:nvSpPr>
        <p:spPr>
          <a:xfrm>
            <a:off x="1979547" y="1390280"/>
            <a:ext cx="11129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600" dirty="0"/>
              <a:t>- Histological score</a:t>
            </a:r>
          </a:p>
          <a:p>
            <a:r>
              <a:rPr lang="en-GB" sz="600" dirty="0"/>
              <a:t>- Triglyceride content</a:t>
            </a:r>
          </a:p>
          <a:p>
            <a:r>
              <a:rPr lang="en-GB" sz="600" dirty="0"/>
              <a:t>- mRNA level of </a:t>
            </a:r>
            <a:r>
              <a:rPr lang="en-GB" sz="600" i="1" dirty="0"/>
              <a:t>Fsp27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2C286BAF-D0CA-7CD6-8BC1-180459C57FDF}"/>
              </a:ext>
            </a:extLst>
          </p:cNvPr>
          <p:cNvSpPr txBox="1"/>
          <p:nvPr/>
        </p:nvSpPr>
        <p:spPr>
          <a:xfrm>
            <a:off x="2217339" y="151077"/>
            <a:ext cx="741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Multi-omics data</a:t>
            </a:r>
          </a:p>
        </p:txBody>
      </p:sp>
      <p:sp>
        <p:nvSpPr>
          <p:cNvPr id="24" name="ZoneTexte 23">
            <a:extLst>
              <a:ext uri="{FF2B5EF4-FFF2-40B4-BE49-F238E27FC236}">
                <a16:creationId xmlns:a16="http://schemas.microsoft.com/office/drawing/2014/main" id="{9ACB4496-2715-730D-2485-30A916E23E27}"/>
              </a:ext>
            </a:extLst>
          </p:cNvPr>
          <p:cNvSpPr txBox="1"/>
          <p:nvPr/>
        </p:nvSpPr>
        <p:spPr>
          <a:xfrm>
            <a:off x="2298736" y="1070172"/>
            <a:ext cx="74123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dirty="0"/>
              <a:t>Steatosis evaluation</a:t>
            </a:r>
          </a:p>
        </p:txBody>
      </p:sp>
      <p:sp>
        <p:nvSpPr>
          <p:cNvPr id="27" name="Flèche vers le bas 26">
            <a:extLst>
              <a:ext uri="{FF2B5EF4-FFF2-40B4-BE49-F238E27FC236}">
                <a16:creationId xmlns:a16="http://schemas.microsoft.com/office/drawing/2014/main" id="{827F675B-AFDF-8684-E18A-D11B61B5E279}"/>
              </a:ext>
            </a:extLst>
          </p:cNvPr>
          <p:cNvSpPr/>
          <p:nvPr/>
        </p:nvSpPr>
        <p:spPr>
          <a:xfrm>
            <a:off x="2326761" y="848797"/>
            <a:ext cx="223311" cy="201993"/>
          </a:xfrm>
          <a:prstGeom prst="downArrow">
            <a:avLst/>
          </a:prstGeom>
          <a:solidFill>
            <a:schemeClr val="bg2">
              <a:lumMod val="9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28" name="ZoneTexte 27">
            <a:extLst>
              <a:ext uri="{FF2B5EF4-FFF2-40B4-BE49-F238E27FC236}">
                <a16:creationId xmlns:a16="http://schemas.microsoft.com/office/drawing/2014/main" id="{D4D3770F-A1CB-4E04-605B-1DF9D23D62B5}"/>
              </a:ext>
            </a:extLst>
          </p:cNvPr>
          <p:cNvSpPr txBox="1"/>
          <p:nvPr/>
        </p:nvSpPr>
        <p:spPr>
          <a:xfrm>
            <a:off x="472746" y="508"/>
            <a:ext cx="1314227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00" b="1" u="sng" dirty="0"/>
              <a:t>Experimental design</a:t>
            </a:r>
          </a:p>
        </p:txBody>
      </p:sp>
      <p:pic>
        <p:nvPicPr>
          <p:cNvPr id="3" name="Graphique 2" descr="Eau avec un remplissage uni">
            <a:extLst>
              <a:ext uri="{FF2B5EF4-FFF2-40B4-BE49-F238E27FC236}">
                <a16:creationId xmlns:a16="http://schemas.microsoft.com/office/drawing/2014/main" id="{7F0597A0-8E30-9018-AF88-874E386B8B55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955218" y="190813"/>
            <a:ext cx="289861" cy="2898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72682240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Thèm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Thème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hèm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132</TotalTime>
  <Words>53</Words>
  <Application>Microsoft Macintosh PowerPoint</Application>
  <PresentationFormat>Personnalisé</PresentationFormat>
  <Paragraphs>19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Thème Office</vt:lpstr>
      <vt:lpstr>Présentation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Microsoft Office User</dc:creator>
  <cp:lastModifiedBy>Microsoft Office User</cp:lastModifiedBy>
  <cp:revision>3</cp:revision>
  <dcterms:created xsi:type="dcterms:W3CDTF">2025-07-30T07:40:10Z</dcterms:created>
  <dcterms:modified xsi:type="dcterms:W3CDTF">2025-08-08T08:54:43Z</dcterms:modified>
</cp:coreProperties>
</file>