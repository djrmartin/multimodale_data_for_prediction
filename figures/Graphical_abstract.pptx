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3"/>
  </p:notesMasterIdLst>
  <p:sldIdLst>
    <p:sldId id="256" r:id="rId2"/>
  </p:sldIdLst>
  <p:sldSz cx="5400675" cy="19796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269" d="100"/>
          <a:sy n="269" d="100"/>
        </p:scale>
        <p:origin x="18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D7E84-9E83-884E-975C-BAEF30A447D1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779463" y="1143000"/>
            <a:ext cx="84169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1835D-9242-C145-839B-784DA50D76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632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1pPr>
    <a:lvl2pPr marL="233263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2pPr>
    <a:lvl3pPr marL="466527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3pPr>
    <a:lvl4pPr marL="699790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4pPr>
    <a:lvl5pPr marL="933054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5pPr>
    <a:lvl6pPr marL="1166317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6pPr>
    <a:lvl7pPr marL="1399581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7pPr>
    <a:lvl8pPr marL="1632844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8pPr>
    <a:lvl9pPr marL="1866108" algn="l" defTabSz="466527" rtl="0" eaLnBrk="1" latinLnBrk="0" hangingPunct="1">
      <a:defRPr sz="61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779463" y="1143000"/>
            <a:ext cx="8416926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1835D-9242-C145-839B-784DA50D763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7679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323978"/>
            <a:ext cx="4050506" cy="689199"/>
          </a:xfrm>
        </p:spPr>
        <p:txBody>
          <a:bodyPr anchor="b"/>
          <a:lstStyle>
            <a:lvl1pPr algn="ctr">
              <a:defRPr sz="173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1039755"/>
            <a:ext cx="4050506" cy="477948"/>
          </a:xfrm>
        </p:spPr>
        <p:txBody>
          <a:bodyPr/>
          <a:lstStyle>
            <a:lvl1pPr marL="0" indent="0" algn="ctr">
              <a:buNone/>
              <a:defRPr sz="693"/>
            </a:lvl1pPr>
            <a:lvl2pPr marL="131994" indent="0" algn="ctr">
              <a:buNone/>
              <a:defRPr sz="577"/>
            </a:lvl2pPr>
            <a:lvl3pPr marL="263987" indent="0" algn="ctr">
              <a:buNone/>
              <a:defRPr sz="520"/>
            </a:lvl3pPr>
            <a:lvl4pPr marL="395981" indent="0" algn="ctr">
              <a:buNone/>
              <a:defRPr sz="462"/>
            </a:lvl4pPr>
            <a:lvl5pPr marL="527975" indent="0" algn="ctr">
              <a:buNone/>
              <a:defRPr sz="462"/>
            </a:lvl5pPr>
            <a:lvl6pPr marL="659968" indent="0" algn="ctr">
              <a:buNone/>
              <a:defRPr sz="462"/>
            </a:lvl6pPr>
            <a:lvl7pPr marL="791962" indent="0" algn="ctr">
              <a:buNone/>
              <a:defRPr sz="462"/>
            </a:lvl7pPr>
            <a:lvl8pPr marL="923955" indent="0" algn="ctr">
              <a:buNone/>
              <a:defRPr sz="462"/>
            </a:lvl8pPr>
            <a:lvl9pPr marL="1055949" indent="0" algn="ctr">
              <a:buNone/>
              <a:defRPr sz="462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867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493529"/>
            <a:ext cx="4658082" cy="823464"/>
          </a:xfrm>
        </p:spPr>
        <p:txBody>
          <a:bodyPr anchor="b"/>
          <a:lstStyle>
            <a:lvl1pPr>
              <a:defRPr sz="173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1324783"/>
            <a:ext cx="4658082" cy="433040"/>
          </a:xfrm>
        </p:spPr>
        <p:txBody>
          <a:bodyPr/>
          <a:lstStyle>
            <a:lvl1pPr marL="0" indent="0">
              <a:buNone/>
              <a:defRPr sz="693">
                <a:solidFill>
                  <a:schemeClr val="tx1">
                    <a:tint val="75000"/>
                  </a:schemeClr>
                </a:solidFill>
              </a:defRPr>
            </a:lvl1pPr>
            <a:lvl2pPr marL="131994" indent="0">
              <a:buNone/>
              <a:defRPr sz="577">
                <a:solidFill>
                  <a:schemeClr val="tx1">
                    <a:tint val="75000"/>
                  </a:schemeClr>
                </a:solidFill>
              </a:defRPr>
            </a:lvl2pPr>
            <a:lvl3pPr marL="263987" indent="0">
              <a:buNone/>
              <a:defRPr sz="520">
                <a:solidFill>
                  <a:schemeClr val="tx1">
                    <a:tint val="75000"/>
                  </a:schemeClr>
                </a:solidFill>
              </a:defRPr>
            </a:lvl3pPr>
            <a:lvl4pPr marL="395981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4pPr>
            <a:lvl5pPr marL="527975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5pPr>
            <a:lvl6pPr marL="659968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6pPr>
            <a:lvl7pPr marL="791962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7pPr>
            <a:lvl8pPr marL="923955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8pPr>
            <a:lvl9pPr marL="1055949" indent="0">
              <a:buNone/>
              <a:defRPr sz="4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04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526980"/>
            <a:ext cx="2295287" cy="125604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526980"/>
            <a:ext cx="2295287" cy="125604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2576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05396"/>
            <a:ext cx="4658082" cy="38263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0" y="485280"/>
            <a:ext cx="2284738" cy="237828"/>
          </a:xfrm>
        </p:spPr>
        <p:txBody>
          <a:bodyPr anchor="b"/>
          <a:lstStyle>
            <a:lvl1pPr marL="0" indent="0">
              <a:buNone/>
              <a:defRPr sz="693" b="1"/>
            </a:lvl1pPr>
            <a:lvl2pPr marL="131994" indent="0">
              <a:buNone/>
              <a:defRPr sz="577" b="1"/>
            </a:lvl2pPr>
            <a:lvl3pPr marL="263987" indent="0">
              <a:buNone/>
              <a:defRPr sz="520" b="1"/>
            </a:lvl3pPr>
            <a:lvl4pPr marL="395981" indent="0">
              <a:buNone/>
              <a:defRPr sz="462" b="1"/>
            </a:lvl4pPr>
            <a:lvl5pPr marL="527975" indent="0">
              <a:buNone/>
              <a:defRPr sz="462" b="1"/>
            </a:lvl5pPr>
            <a:lvl6pPr marL="659968" indent="0">
              <a:buNone/>
              <a:defRPr sz="462" b="1"/>
            </a:lvl6pPr>
            <a:lvl7pPr marL="791962" indent="0">
              <a:buNone/>
              <a:defRPr sz="462" b="1"/>
            </a:lvl7pPr>
            <a:lvl8pPr marL="923955" indent="0">
              <a:buNone/>
              <a:defRPr sz="462" b="1"/>
            </a:lvl8pPr>
            <a:lvl9pPr marL="1055949" indent="0">
              <a:buNone/>
              <a:defRPr sz="46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0" y="723109"/>
            <a:ext cx="2284738" cy="10635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485280"/>
            <a:ext cx="2295990" cy="237828"/>
          </a:xfrm>
        </p:spPr>
        <p:txBody>
          <a:bodyPr anchor="b"/>
          <a:lstStyle>
            <a:lvl1pPr marL="0" indent="0">
              <a:buNone/>
              <a:defRPr sz="693" b="1"/>
            </a:lvl1pPr>
            <a:lvl2pPr marL="131994" indent="0">
              <a:buNone/>
              <a:defRPr sz="577" b="1"/>
            </a:lvl2pPr>
            <a:lvl3pPr marL="263987" indent="0">
              <a:buNone/>
              <a:defRPr sz="520" b="1"/>
            </a:lvl3pPr>
            <a:lvl4pPr marL="395981" indent="0">
              <a:buNone/>
              <a:defRPr sz="462" b="1"/>
            </a:lvl4pPr>
            <a:lvl5pPr marL="527975" indent="0">
              <a:buNone/>
              <a:defRPr sz="462" b="1"/>
            </a:lvl5pPr>
            <a:lvl6pPr marL="659968" indent="0">
              <a:buNone/>
              <a:defRPr sz="462" b="1"/>
            </a:lvl6pPr>
            <a:lvl7pPr marL="791962" indent="0">
              <a:buNone/>
              <a:defRPr sz="462" b="1"/>
            </a:lvl7pPr>
            <a:lvl8pPr marL="923955" indent="0">
              <a:buNone/>
              <a:defRPr sz="462" b="1"/>
            </a:lvl8pPr>
            <a:lvl9pPr marL="1055949" indent="0">
              <a:buNone/>
              <a:defRPr sz="46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723109"/>
            <a:ext cx="2295990" cy="10635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0311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9646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0819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31974"/>
            <a:ext cx="1741858" cy="461910"/>
          </a:xfrm>
        </p:spPr>
        <p:txBody>
          <a:bodyPr anchor="b"/>
          <a:lstStyle>
            <a:lvl1pPr>
              <a:defRPr sz="9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285028"/>
            <a:ext cx="2734092" cy="1406808"/>
          </a:xfrm>
        </p:spPr>
        <p:txBody>
          <a:bodyPr/>
          <a:lstStyle>
            <a:lvl1pPr>
              <a:defRPr sz="924"/>
            </a:lvl1pPr>
            <a:lvl2pPr>
              <a:defRPr sz="808"/>
            </a:lvl2pPr>
            <a:lvl3pPr>
              <a:defRPr sz="693"/>
            </a:lvl3pPr>
            <a:lvl4pPr>
              <a:defRPr sz="577"/>
            </a:lvl4pPr>
            <a:lvl5pPr>
              <a:defRPr sz="577"/>
            </a:lvl5pPr>
            <a:lvl6pPr>
              <a:defRPr sz="577"/>
            </a:lvl6pPr>
            <a:lvl7pPr>
              <a:defRPr sz="577"/>
            </a:lvl7pPr>
            <a:lvl8pPr>
              <a:defRPr sz="577"/>
            </a:lvl8pPr>
            <a:lvl9pPr>
              <a:defRPr sz="57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593884"/>
            <a:ext cx="1741858" cy="1100243"/>
          </a:xfrm>
        </p:spPr>
        <p:txBody>
          <a:bodyPr/>
          <a:lstStyle>
            <a:lvl1pPr marL="0" indent="0">
              <a:buNone/>
              <a:defRPr sz="462"/>
            </a:lvl1pPr>
            <a:lvl2pPr marL="131994" indent="0">
              <a:buNone/>
              <a:defRPr sz="404"/>
            </a:lvl2pPr>
            <a:lvl3pPr marL="263987" indent="0">
              <a:buNone/>
              <a:defRPr sz="346"/>
            </a:lvl3pPr>
            <a:lvl4pPr marL="395981" indent="0">
              <a:buNone/>
              <a:defRPr sz="289"/>
            </a:lvl4pPr>
            <a:lvl5pPr marL="527975" indent="0">
              <a:buNone/>
              <a:defRPr sz="289"/>
            </a:lvl5pPr>
            <a:lvl6pPr marL="659968" indent="0">
              <a:buNone/>
              <a:defRPr sz="289"/>
            </a:lvl6pPr>
            <a:lvl7pPr marL="791962" indent="0">
              <a:buNone/>
              <a:defRPr sz="289"/>
            </a:lvl7pPr>
            <a:lvl8pPr marL="923955" indent="0">
              <a:buNone/>
              <a:defRPr sz="289"/>
            </a:lvl8pPr>
            <a:lvl9pPr marL="1055949" indent="0">
              <a:buNone/>
              <a:defRPr sz="28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060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31974"/>
            <a:ext cx="1741858" cy="461910"/>
          </a:xfrm>
        </p:spPr>
        <p:txBody>
          <a:bodyPr anchor="b"/>
          <a:lstStyle>
            <a:lvl1pPr>
              <a:defRPr sz="9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285028"/>
            <a:ext cx="2734092" cy="1406808"/>
          </a:xfrm>
        </p:spPr>
        <p:txBody>
          <a:bodyPr anchor="t"/>
          <a:lstStyle>
            <a:lvl1pPr marL="0" indent="0">
              <a:buNone/>
              <a:defRPr sz="924"/>
            </a:lvl1pPr>
            <a:lvl2pPr marL="131994" indent="0">
              <a:buNone/>
              <a:defRPr sz="808"/>
            </a:lvl2pPr>
            <a:lvl3pPr marL="263987" indent="0">
              <a:buNone/>
              <a:defRPr sz="693"/>
            </a:lvl3pPr>
            <a:lvl4pPr marL="395981" indent="0">
              <a:buNone/>
              <a:defRPr sz="577"/>
            </a:lvl4pPr>
            <a:lvl5pPr marL="527975" indent="0">
              <a:buNone/>
              <a:defRPr sz="577"/>
            </a:lvl5pPr>
            <a:lvl6pPr marL="659968" indent="0">
              <a:buNone/>
              <a:defRPr sz="577"/>
            </a:lvl6pPr>
            <a:lvl7pPr marL="791962" indent="0">
              <a:buNone/>
              <a:defRPr sz="577"/>
            </a:lvl7pPr>
            <a:lvl8pPr marL="923955" indent="0">
              <a:buNone/>
              <a:defRPr sz="577"/>
            </a:lvl8pPr>
            <a:lvl9pPr marL="1055949" indent="0">
              <a:buNone/>
              <a:defRPr sz="577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593884"/>
            <a:ext cx="1741858" cy="1100243"/>
          </a:xfrm>
        </p:spPr>
        <p:txBody>
          <a:bodyPr/>
          <a:lstStyle>
            <a:lvl1pPr marL="0" indent="0">
              <a:buNone/>
              <a:defRPr sz="462"/>
            </a:lvl1pPr>
            <a:lvl2pPr marL="131994" indent="0">
              <a:buNone/>
              <a:defRPr sz="404"/>
            </a:lvl2pPr>
            <a:lvl3pPr marL="263987" indent="0">
              <a:buNone/>
              <a:defRPr sz="346"/>
            </a:lvl3pPr>
            <a:lvl4pPr marL="395981" indent="0">
              <a:buNone/>
              <a:defRPr sz="289"/>
            </a:lvl4pPr>
            <a:lvl5pPr marL="527975" indent="0">
              <a:buNone/>
              <a:defRPr sz="289"/>
            </a:lvl5pPr>
            <a:lvl6pPr marL="659968" indent="0">
              <a:buNone/>
              <a:defRPr sz="289"/>
            </a:lvl6pPr>
            <a:lvl7pPr marL="791962" indent="0">
              <a:buNone/>
              <a:defRPr sz="289"/>
            </a:lvl7pPr>
            <a:lvl8pPr marL="923955" indent="0">
              <a:buNone/>
              <a:defRPr sz="289"/>
            </a:lvl8pPr>
            <a:lvl9pPr marL="1055949" indent="0">
              <a:buNone/>
              <a:defRPr sz="28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35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874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105396"/>
            <a:ext cx="1164521" cy="167763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105396"/>
            <a:ext cx="3426053" cy="167763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8DE9-78C7-6145-A01B-879F4074346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166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105396"/>
            <a:ext cx="4658082" cy="38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526980"/>
            <a:ext cx="4658082" cy="125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1834808"/>
            <a:ext cx="1215152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68DE9-78C7-6145-A01B-879F4074346E}" type="datetimeFigureOut">
              <a:rPr lang="fr-FR" smtClean="0"/>
              <a:t>30/07/2025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1834808"/>
            <a:ext cx="1822728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1834808"/>
            <a:ext cx="1215152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DE974-C9D6-E741-880D-2D5650E4D5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286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263987" rtl="0" eaLnBrk="1" latinLnBrk="0" hangingPunct="1">
        <a:lnSpc>
          <a:spcPct val="90000"/>
        </a:lnSpc>
        <a:spcBef>
          <a:spcPct val="0"/>
        </a:spcBef>
        <a:buNone/>
        <a:defRPr sz="12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997" indent="-65997" algn="l" defTabSz="263987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808" kern="1200">
          <a:solidFill>
            <a:schemeClr val="tx1"/>
          </a:solidFill>
          <a:latin typeface="+mn-lt"/>
          <a:ea typeface="+mn-ea"/>
          <a:cs typeface="+mn-cs"/>
        </a:defRPr>
      </a:lvl1pPr>
      <a:lvl2pPr marL="197990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693" kern="1200">
          <a:solidFill>
            <a:schemeClr val="tx1"/>
          </a:solidFill>
          <a:latin typeface="+mn-lt"/>
          <a:ea typeface="+mn-ea"/>
          <a:cs typeface="+mn-cs"/>
        </a:defRPr>
      </a:lvl2pPr>
      <a:lvl3pPr marL="329984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77" kern="1200">
          <a:solidFill>
            <a:schemeClr val="tx1"/>
          </a:solidFill>
          <a:latin typeface="+mn-lt"/>
          <a:ea typeface="+mn-ea"/>
          <a:cs typeface="+mn-cs"/>
        </a:defRPr>
      </a:lvl3pPr>
      <a:lvl4pPr marL="461978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4pPr>
      <a:lvl5pPr marL="593971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5pPr>
      <a:lvl6pPr marL="725965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6pPr>
      <a:lvl7pPr marL="857959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7pPr>
      <a:lvl8pPr marL="989952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8pPr>
      <a:lvl9pPr marL="1121946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1pPr>
      <a:lvl2pPr marL="131994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2pPr>
      <a:lvl3pPr marL="263987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3pPr>
      <a:lvl4pPr marL="395981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4pPr>
      <a:lvl5pPr marL="527975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5pPr>
      <a:lvl6pPr marL="659968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6pPr>
      <a:lvl7pPr marL="791962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7pPr>
      <a:lvl8pPr marL="923955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8pPr>
      <a:lvl9pPr marL="1055949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ZoneTexte 127">
            <a:extLst>
              <a:ext uri="{FF2B5EF4-FFF2-40B4-BE49-F238E27FC236}">
                <a16:creationId xmlns:a16="http://schemas.microsoft.com/office/drawing/2014/main" id="{3F51A3BF-95D0-2812-03EE-8052FB68D2DF}"/>
              </a:ext>
            </a:extLst>
          </p:cNvPr>
          <p:cNvSpPr txBox="1"/>
          <p:nvPr/>
        </p:nvSpPr>
        <p:spPr>
          <a:xfrm>
            <a:off x="4391191" y="436669"/>
            <a:ext cx="938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b="1" dirty="0"/>
              <a:t>New - </a:t>
            </a:r>
            <a:r>
              <a:rPr lang="en-GB" sz="700" b="1" dirty="0">
                <a:solidFill>
                  <a:srgbClr val="C00000"/>
                </a:solidFill>
              </a:rPr>
              <a:t>Sequential Integration</a:t>
            </a:r>
          </a:p>
        </p:txBody>
      </p:sp>
      <p:sp>
        <p:nvSpPr>
          <p:cNvPr id="129" name="Rectangle : coins arrondis 128">
            <a:extLst>
              <a:ext uri="{FF2B5EF4-FFF2-40B4-BE49-F238E27FC236}">
                <a16:creationId xmlns:a16="http://schemas.microsoft.com/office/drawing/2014/main" id="{12DED574-FE3C-AEA3-0655-3CC76E0C13D6}"/>
              </a:ext>
            </a:extLst>
          </p:cNvPr>
          <p:cNvSpPr/>
          <p:nvPr/>
        </p:nvSpPr>
        <p:spPr>
          <a:xfrm>
            <a:off x="4784340" y="730045"/>
            <a:ext cx="152458" cy="1365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33" name="Rectangle : coins arrondis 132">
            <a:extLst>
              <a:ext uri="{FF2B5EF4-FFF2-40B4-BE49-F238E27FC236}">
                <a16:creationId xmlns:a16="http://schemas.microsoft.com/office/drawing/2014/main" id="{7E941BCC-04C3-1456-F746-EB363313BA03}"/>
              </a:ext>
            </a:extLst>
          </p:cNvPr>
          <p:cNvSpPr/>
          <p:nvPr/>
        </p:nvSpPr>
        <p:spPr>
          <a:xfrm>
            <a:off x="4784340" y="1066713"/>
            <a:ext cx="152458" cy="1365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37" name="Rectangle : coins arrondis 136">
            <a:extLst>
              <a:ext uri="{FF2B5EF4-FFF2-40B4-BE49-F238E27FC236}">
                <a16:creationId xmlns:a16="http://schemas.microsoft.com/office/drawing/2014/main" id="{32AA29B7-4A45-3F56-B0DE-86B16778596C}"/>
              </a:ext>
            </a:extLst>
          </p:cNvPr>
          <p:cNvSpPr/>
          <p:nvPr/>
        </p:nvSpPr>
        <p:spPr>
          <a:xfrm>
            <a:off x="4784339" y="1395766"/>
            <a:ext cx="152458" cy="1365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40" name="Rectangle : coins arrondis 139">
            <a:extLst>
              <a:ext uri="{FF2B5EF4-FFF2-40B4-BE49-F238E27FC236}">
                <a16:creationId xmlns:a16="http://schemas.microsoft.com/office/drawing/2014/main" id="{F609820A-3B2C-0CA3-6778-55A4A69CEE48}"/>
              </a:ext>
            </a:extLst>
          </p:cNvPr>
          <p:cNvSpPr/>
          <p:nvPr/>
        </p:nvSpPr>
        <p:spPr>
          <a:xfrm>
            <a:off x="4784339" y="1751855"/>
            <a:ext cx="152458" cy="13654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354CD7-3C5E-C0D7-340A-E532A0D089DD}"/>
              </a:ext>
            </a:extLst>
          </p:cNvPr>
          <p:cNvSpPr txBox="1"/>
          <p:nvPr/>
        </p:nvSpPr>
        <p:spPr>
          <a:xfrm>
            <a:off x="2787650" y="18831"/>
            <a:ext cx="12136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b="1" dirty="0"/>
              <a:t>- Biochemical</a:t>
            </a:r>
          </a:p>
          <a:p>
            <a:r>
              <a:rPr lang="en-GB" sz="700" b="1" dirty="0"/>
              <a:t>- Mid-infrared spectroscopy</a:t>
            </a:r>
          </a:p>
          <a:p>
            <a:r>
              <a:rPr lang="en-GB" sz="700" b="1" dirty="0"/>
              <a:t>- </a:t>
            </a:r>
            <a:r>
              <a:rPr lang="en-GB" sz="700" b="1" dirty="0" err="1"/>
              <a:t>Metallomic</a:t>
            </a:r>
            <a:endParaRPr lang="en-GB" sz="700" b="1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1AE4824-FDC9-11BA-6919-298F1991847C}"/>
              </a:ext>
            </a:extLst>
          </p:cNvPr>
          <p:cNvSpPr txBox="1"/>
          <p:nvPr/>
        </p:nvSpPr>
        <p:spPr>
          <a:xfrm>
            <a:off x="268041" y="1682206"/>
            <a:ext cx="938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b="1" dirty="0"/>
              <a:t>Predictive performance of liver Steatosis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82EF4A44-A950-47B7-AD0D-FBE8A5B63E91}"/>
              </a:ext>
            </a:extLst>
          </p:cNvPr>
          <p:cNvSpPr txBox="1"/>
          <p:nvPr/>
        </p:nvSpPr>
        <p:spPr>
          <a:xfrm>
            <a:off x="268041" y="115089"/>
            <a:ext cx="860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00" b="1" dirty="0"/>
              <a:t>multimodal data </a:t>
            </a:r>
            <a:r>
              <a:rPr lang="fr-FR" sz="600" b="1" dirty="0" err="1"/>
              <a:t>obtained</a:t>
            </a:r>
            <a:r>
              <a:rPr lang="fr-FR" sz="600" b="1" dirty="0"/>
              <a:t> </a:t>
            </a:r>
            <a:r>
              <a:rPr lang="fr-FR" sz="600" b="1" dirty="0" err="1"/>
              <a:t>from</a:t>
            </a:r>
            <a:r>
              <a:rPr lang="fr-FR" sz="600" b="1" dirty="0"/>
              <a:t> </a:t>
            </a:r>
            <a:r>
              <a:rPr lang="fr-FR" sz="600" b="1" dirty="0" err="1"/>
              <a:t>serum</a:t>
            </a:r>
            <a:endParaRPr lang="fr-FR" sz="600" b="1" dirty="0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5A994A5F-A4E4-43EB-8952-3B2A891381D1}"/>
              </a:ext>
            </a:extLst>
          </p:cNvPr>
          <p:cNvSpPr txBox="1"/>
          <p:nvPr/>
        </p:nvSpPr>
        <p:spPr>
          <a:xfrm>
            <a:off x="268579" y="866247"/>
            <a:ext cx="8382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00" b="1" dirty="0" err="1"/>
              <a:t>Strategies</a:t>
            </a:r>
            <a:r>
              <a:rPr lang="fr-FR" sz="600" b="1" dirty="0"/>
              <a:t> of data </a:t>
            </a:r>
            <a:r>
              <a:rPr lang="fr-FR" sz="600" b="1" dirty="0" err="1"/>
              <a:t>integration</a:t>
            </a:r>
            <a:endParaRPr lang="en-GB" sz="600" b="1" dirty="0"/>
          </a:p>
        </p:txBody>
      </p:sp>
      <p:pic>
        <p:nvPicPr>
          <p:cNvPr id="61" name="Image 60">
            <a:extLst>
              <a:ext uri="{FF2B5EF4-FFF2-40B4-BE49-F238E27FC236}">
                <a16:creationId xmlns:a16="http://schemas.microsoft.com/office/drawing/2014/main" id="{E5AA3998-8164-40A6-841E-41D374399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4" y="883591"/>
            <a:ext cx="236605" cy="236605"/>
          </a:xfrm>
          <a:prstGeom prst="rect">
            <a:avLst/>
          </a:prstGeom>
        </p:spPr>
      </p:pic>
      <p:sp>
        <p:nvSpPr>
          <p:cNvPr id="66" name="Flèche vers la gauche 102">
            <a:extLst>
              <a:ext uri="{FF2B5EF4-FFF2-40B4-BE49-F238E27FC236}">
                <a16:creationId xmlns:a16="http://schemas.microsoft.com/office/drawing/2014/main" id="{57929834-0C98-455C-B42F-A4C4968630F4}"/>
              </a:ext>
            </a:extLst>
          </p:cNvPr>
          <p:cNvSpPr/>
          <p:nvPr/>
        </p:nvSpPr>
        <p:spPr>
          <a:xfrm rot="16200000">
            <a:off x="4788335" y="918393"/>
            <a:ext cx="144467" cy="99705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 dirty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12581B8-4721-42FC-ABCC-B48CC6D15847}"/>
              </a:ext>
            </a:extLst>
          </p:cNvPr>
          <p:cNvCxnSpPr>
            <a:cxnSpLocks/>
          </p:cNvCxnSpPr>
          <p:nvPr/>
        </p:nvCxnSpPr>
        <p:spPr>
          <a:xfrm>
            <a:off x="77154" y="451850"/>
            <a:ext cx="52029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39FF094B-56FF-48C1-A18E-EA19BD416A4C}"/>
              </a:ext>
            </a:extLst>
          </p:cNvPr>
          <p:cNvCxnSpPr>
            <a:cxnSpLocks/>
          </p:cNvCxnSpPr>
          <p:nvPr/>
        </p:nvCxnSpPr>
        <p:spPr>
          <a:xfrm>
            <a:off x="77154" y="1572567"/>
            <a:ext cx="520728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Flèche vers la gauche 102">
            <a:extLst>
              <a:ext uri="{FF2B5EF4-FFF2-40B4-BE49-F238E27FC236}">
                <a16:creationId xmlns:a16="http://schemas.microsoft.com/office/drawing/2014/main" id="{4B1A0850-6F5C-497B-8C10-8C3F379C5EDD}"/>
              </a:ext>
            </a:extLst>
          </p:cNvPr>
          <p:cNvSpPr/>
          <p:nvPr/>
        </p:nvSpPr>
        <p:spPr>
          <a:xfrm rot="16200000">
            <a:off x="4788335" y="1253259"/>
            <a:ext cx="144467" cy="99705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89" name="Flèche vers la gauche 102">
            <a:extLst>
              <a:ext uri="{FF2B5EF4-FFF2-40B4-BE49-F238E27FC236}">
                <a16:creationId xmlns:a16="http://schemas.microsoft.com/office/drawing/2014/main" id="{1E6103E5-AF94-4F9C-9F64-E07756836A4B}"/>
              </a:ext>
            </a:extLst>
          </p:cNvPr>
          <p:cNvSpPr/>
          <p:nvPr/>
        </p:nvSpPr>
        <p:spPr>
          <a:xfrm rot="16200000">
            <a:off x="4814509" y="1612631"/>
            <a:ext cx="106014" cy="55404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B96B4431-1588-4816-979B-B22671A14911}"/>
              </a:ext>
            </a:extLst>
          </p:cNvPr>
          <p:cNvCxnSpPr>
            <a:cxnSpLocks/>
          </p:cNvCxnSpPr>
          <p:nvPr/>
        </p:nvCxnSpPr>
        <p:spPr>
          <a:xfrm>
            <a:off x="1203408" y="47099"/>
            <a:ext cx="0" cy="1885413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04E47473-5E0F-7AD1-DC98-76E1B413CEB9}"/>
              </a:ext>
            </a:extLst>
          </p:cNvPr>
          <p:cNvSpPr/>
          <p:nvPr/>
        </p:nvSpPr>
        <p:spPr>
          <a:xfrm>
            <a:off x="2488770" y="123674"/>
            <a:ext cx="152458" cy="1365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1C24507-D9DA-BBAF-4308-B212E9350872}"/>
              </a:ext>
            </a:extLst>
          </p:cNvPr>
          <p:cNvSpPr/>
          <p:nvPr/>
        </p:nvSpPr>
        <p:spPr>
          <a:xfrm>
            <a:off x="2564999" y="173585"/>
            <a:ext cx="152458" cy="1365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21AD1AE-4136-F331-E727-F0C070FF4FED}"/>
              </a:ext>
            </a:extLst>
          </p:cNvPr>
          <p:cNvSpPr/>
          <p:nvPr/>
        </p:nvSpPr>
        <p:spPr>
          <a:xfrm>
            <a:off x="2641228" y="225082"/>
            <a:ext cx="152458" cy="1365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19" name="Flèche vers la gauche 102">
            <a:extLst>
              <a:ext uri="{FF2B5EF4-FFF2-40B4-BE49-F238E27FC236}">
                <a16:creationId xmlns:a16="http://schemas.microsoft.com/office/drawing/2014/main" id="{7217010A-A320-51E8-79D7-ECDAB56F338E}"/>
              </a:ext>
            </a:extLst>
          </p:cNvPr>
          <p:cNvSpPr/>
          <p:nvPr/>
        </p:nvSpPr>
        <p:spPr>
          <a:xfrm rot="16200000">
            <a:off x="513964" y="497873"/>
            <a:ext cx="106014" cy="55404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20" name="Flèche vers la gauche 102">
            <a:extLst>
              <a:ext uri="{FF2B5EF4-FFF2-40B4-BE49-F238E27FC236}">
                <a16:creationId xmlns:a16="http://schemas.microsoft.com/office/drawing/2014/main" id="{B27D9301-2A5C-1438-0B6A-33FE07A25AED}"/>
              </a:ext>
            </a:extLst>
          </p:cNvPr>
          <p:cNvSpPr/>
          <p:nvPr/>
        </p:nvSpPr>
        <p:spPr>
          <a:xfrm rot="16200000">
            <a:off x="509532" y="1604748"/>
            <a:ext cx="106014" cy="55404"/>
          </a:xfrm>
          <a:prstGeom prst="lef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73272607-5EF5-203A-9E4B-9C6122A17E1B}"/>
              </a:ext>
            </a:extLst>
          </p:cNvPr>
          <p:cNvGrpSpPr/>
          <p:nvPr/>
        </p:nvGrpSpPr>
        <p:grpSpPr>
          <a:xfrm>
            <a:off x="2453892" y="429404"/>
            <a:ext cx="835923" cy="1493549"/>
            <a:chOff x="1959454" y="437944"/>
            <a:chExt cx="835923" cy="1493549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721A1601-013B-EB20-797D-567CC9B993AD}"/>
                </a:ext>
              </a:extLst>
            </p:cNvPr>
            <p:cNvSpPr/>
            <p:nvPr/>
          </p:nvSpPr>
          <p:spPr>
            <a:xfrm>
              <a:off x="1959454" y="1735142"/>
              <a:ext cx="835923" cy="169132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2" name="Rectangle : coins arrondis 1">
              <a:extLst>
                <a:ext uri="{FF2B5EF4-FFF2-40B4-BE49-F238E27FC236}">
                  <a16:creationId xmlns:a16="http://schemas.microsoft.com/office/drawing/2014/main" id="{775BE4EA-6224-A865-F644-1FCAAA8F0DE7}"/>
                </a:ext>
              </a:extLst>
            </p:cNvPr>
            <p:cNvSpPr/>
            <p:nvPr/>
          </p:nvSpPr>
          <p:spPr>
            <a:xfrm>
              <a:off x="2057599" y="755765"/>
              <a:ext cx="152458" cy="13654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6F984FF6-9D9D-B60D-1802-2802C3F35CAC}"/>
                </a:ext>
              </a:extLst>
            </p:cNvPr>
            <p:cNvSpPr/>
            <p:nvPr/>
          </p:nvSpPr>
          <p:spPr>
            <a:xfrm>
              <a:off x="2294639" y="755588"/>
              <a:ext cx="152458" cy="1365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758444EC-2DBE-6B92-7D97-0607595601C2}"/>
                </a:ext>
              </a:extLst>
            </p:cNvPr>
            <p:cNvSpPr/>
            <p:nvPr/>
          </p:nvSpPr>
          <p:spPr>
            <a:xfrm>
              <a:off x="2518206" y="757848"/>
              <a:ext cx="152458" cy="13654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284B0927-1D39-B2E7-63CF-EA79F2FBA886}"/>
                </a:ext>
              </a:extLst>
            </p:cNvPr>
            <p:cNvSpPr/>
            <p:nvPr/>
          </p:nvSpPr>
          <p:spPr>
            <a:xfrm>
              <a:off x="2057599" y="1752364"/>
              <a:ext cx="152458" cy="13654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8EABACFB-BEEE-F368-8C24-09E2B94B4277}"/>
                </a:ext>
              </a:extLst>
            </p:cNvPr>
            <p:cNvSpPr/>
            <p:nvPr/>
          </p:nvSpPr>
          <p:spPr>
            <a:xfrm>
              <a:off x="2294639" y="1752508"/>
              <a:ext cx="152458" cy="13654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9C0A4D17-C97E-A113-52B6-F480FD2830B2}"/>
                </a:ext>
              </a:extLst>
            </p:cNvPr>
            <p:cNvSpPr/>
            <p:nvPr/>
          </p:nvSpPr>
          <p:spPr>
            <a:xfrm>
              <a:off x="2518206" y="1752364"/>
              <a:ext cx="152458" cy="13654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78" name="Flèche vers la gauche 102">
              <a:extLst>
                <a:ext uri="{FF2B5EF4-FFF2-40B4-BE49-F238E27FC236}">
                  <a16:creationId xmlns:a16="http://schemas.microsoft.com/office/drawing/2014/main" id="{37377C35-5B62-4634-A9F0-6C3899BD8A37}"/>
                </a:ext>
              </a:extLst>
            </p:cNvPr>
            <p:cNvSpPr/>
            <p:nvPr/>
          </p:nvSpPr>
          <p:spPr>
            <a:xfrm rot="16200000">
              <a:off x="2542763" y="1610037"/>
              <a:ext cx="106014" cy="55404"/>
            </a:xfrm>
            <a:prstGeom prst="leftArrow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95C2CAD3-BFBC-A7D8-D97F-E0BF9F69A557}"/>
                </a:ext>
              </a:extLst>
            </p:cNvPr>
            <p:cNvSpPr txBox="1"/>
            <p:nvPr/>
          </p:nvSpPr>
          <p:spPr>
            <a:xfrm>
              <a:off x="2016647" y="437944"/>
              <a:ext cx="708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b="1" dirty="0">
                  <a:solidFill>
                    <a:srgbClr val="C00000"/>
                  </a:solidFill>
                </a:rPr>
                <a:t>Late Integration</a:t>
              </a:r>
            </a:p>
          </p:txBody>
        </p:sp>
        <p:sp>
          <p:nvSpPr>
            <p:cNvPr id="31" name="Flèche vers la gauche 102">
              <a:extLst>
                <a:ext uri="{FF2B5EF4-FFF2-40B4-BE49-F238E27FC236}">
                  <a16:creationId xmlns:a16="http://schemas.microsoft.com/office/drawing/2014/main" id="{7D2A26D8-B68C-23DD-4D34-C034E43215AE}"/>
                </a:ext>
              </a:extLst>
            </p:cNvPr>
            <p:cNvSpPr/>
            <p:nvPr/>
          </p:nvSpPr>
          <p:spPr>
            <a:xfrm rot="16200000">
              <a:off x="2082949" y="1615394"/>
              <a:ext cx="106014" cy="55404"/>
            </a:xfrm>
            <a:prstGeom prst="leftArrow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32" name="Flèche vers la gauche 102">
              <a:extLst>
                <a:ext uri="{FF2B5EF4-FFF2-40B4-BE49-F238E27FC236}">
                  <a16:creationId xmlns:a16="http://schemas.microsoft.com/office/drawing/2014/main" id="{2C126C96-77A4-4DAB-DC6C-A8648414AF1B}"/>
                </a:ext>
              </a:extLst>
            </p:cNvPr>
            <p:cNvSpPr/>
            <p:nvPr/>
          </p:nvSpPr>
          <p:spPr>
            <a:xfrm rot="16200000">
              <a:off x="2315454" y="1611839"/>
              <a:ext cx="106014" cy="55404"/>
            </a:xfrm>
            <a:prstGeom prst="leftArrow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33" name="Flèche vers la gauche 102">
              <a:extLst>
                <a:ext uri="{FF2B5EF4-FFF2-40B4-BE49-F238E27FC236}">
                  <a16:creationId xmlns:a16="http://schemas.microsoft.com/office/drawing/2014/main" id="{70B362EB-9D76-A436-11DA-9F445078CA01}"/>
                </a:ext>
              </a:extLst>
            </p:cNvPr>
            <p:cNvSpPr/>
            <p:nvPr/>
          </p:nvSpPr>
          <p:spPr>
            <a:xfrm rot="16200000">
              <a:off x="1849113" y="1184144"/>
              <a:ext cx="566364" cy="60771"/>
            </a:xfrm>
            <a:prstGeom prst="lef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34" name="Flèche vers la gauche 102">
              <a:extLst>
                <a:ext uri="{FF2B5EF4-FFF2-40B4-BE49-F238E27FC236}">
                  <a16:creationId xmlns:a16="http://schemas.microsoft.com/office/drawing/2014/main" id="{B9A5D831-2BDD-307E-2F85-82B6AB871F60}"/>
                </a:ext>
              </a:extLst>
            </p:cNvPr>
            <p:cNvSpPr/>
            <p:nvPr/>
          </p:nvSpPr>
          <p:spPr>
            <a:xfrm rot="16200000">
              <a:off x="2087962" y="1185522"/>
              <a:ext cx="566364" cy="60771"/>
            </a:xfrm>
            <a:prstGeom prst="lef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35" name="Flèche vers la gauche 102">
              <a:extLst>
                <a:ext uri="{FF2B5EF4-FFF2-40B4-BE49-F238E27FC236}">
                  <a16:creationId xmlns:a16="http://schemas.microsoft.com/office/drawing/2014/main" id="{44F2C69E-FBB9-07E3-CD0C-3D79977AFB34}"/>
                </a:ext>
              </a:extLst>
            </p:cNvPr>
            <p:cNvSpPr/>
            <p:nvPr/>
          </p:nvSpPr>
          <p:spPr>
            <a:xfrm rot="16200000">
              <a:off x="2311253" y="1176800"/>
              <a:ext cx="566364" cy="60771"/>
            </a:xfrm>
            <a:prstGeom prst="lef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DF35F8A3-B104-6A0E-24F9-10514BE5FD2F}"/>
                </a:ext>
              </a:extLst>
            </p:cNvPr>
            <p:cNvSpPr txBox="1"/>
            <p:nvPr/>
          </p:nvSpPr>
          <p:spPr>
            <a:xfrm>
              <a:off x="2136366" y="1713114"/>
              <a:ext cx="2359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800" dirty="0"/>
                <a:t>+</a:t>
              </a:r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D3A52CF1-B892-DBE0-001E-A5E3B53DF48D}"/>
                </a:ext>
              </a:extLst>
            </p:cNvPr>
            <p:cNvSpPr txBox="1"/>
            <p:nvPr/>
          </p:nvSpPr>
          <p:spPr>
            <a:xfrm>
              <a:off x="2368687" y="1716049"/>
              <a:ext cx="2359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800" dirty="0"/>
                <a:t>+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AA77A84E-7FC9-CC41-9613-963BD9078AA9}"/>
              </a:ext>
            </a:extLst>
          </p:cNvPr>
          <p:cNvGrpSpPr/>
          <p:nvPr/>
        </p:nvGrpSpPr>
        <p:grpSpPr>
          <a:xfrm>
            <a:off x="1203408" y="437769"/>
            <a:ext cx="1045086" cy="1442598"/>
            <a:chOff x="2994535" y="394921"/>
            <a:chExt cx="1045086" cy="1442598"/>
          </a:xfrm>
        </p:grpSpPr>
        <p:sp>
          <p:nvSpPr>
            <p:cNvPr id="86" name="Rectangle : coins arrondis 85">
              <a:extLst>
                <a:ext uri="{FF2B5EF4-FFF2-40B4-BE49-F238E27FC236}">
                  <a16:creationId xmlns:a16="http://schemas.microsoft.com/office/drawing/2014/main" id="{47AE689E-43D8-0D32-2EF3-D441FADAA89C}"/>
                </a:ext>
              </a:extLst>
            </p:cNvPr>
            <p:cNvSpPr/>
            <p:nvPr/>
          </p:nvSpPr>
          <p:spPr>
            <a:xfrm>
              <a:off x="3121781" y="1074630"/>
              <a:ext cx="701085" cy="17655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B4ABDF42-B003-4C60-43CA-5491F80593CF}"/>
                </a:ext>
              </a:extLst>
            </p:cNvPr>
            <p:cNvSpPr txBox="1"/>
            <p:nvPr/>
          </p:nvSpPr>
          <p:spPr>
            <a:xfrm>
              <a:off x="3071293" y="394921"/>
              <a:ext cx="7974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b="1" dirty="0">
                  <a:solidFill>
                    <a:srgbClr val="C00000"/>
                  </a:solidFill>
                </a:rPr>
                <a:t>Mixed Integration</a:t>
              </a:r>
            </a:p>
          </p:txBody>
        </p:sp>
        <p:sp>
          <p:nvSpPr>
            <p:cNvPr id="51" name="Rectangle : coins arrondis 50">
              <a:extLst>
                <a:ext uri="{FF2B5EF4-FFF2-40B4-BE49-F238E27FC236}">
                  <a16:creationId xmlns:a16="http://schemas.microsoft.com/office/drawing/2014/main" id="{B4D05623-1C3B-DCC7-3722-B017FC65A5E5}"/>
                </a:ext>
              </a:extLst>
            </p:cNvPr>
            <p:cNvSpPr/>
            <p:nvPr/>
          </p:nvSpPr>
          <p:spPr>
            <a:xfrm>
              <a:off x="3153955" y="713027"/>
              <a:ext cx="152458" cy="13654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52" name="Rectangle : coins arrondis 51">
              <a:extLst>
                <a:ext uri="{FF2B5EF4-FFF2-40B4-BE49-F238E27FC236}">
                  <a16:creationId xmlns:a16="http://schemas.microsoft.com/office/drawing/2014/main" id="{58D54EB3-7108-E395-FF60-415B76366E85}"/>
                </a:ext>
              </a:extLst>
            </p:cNvPr>
            <p:cNvSpPr/>
            <p:nvPr/>
          </p:nvSpPr>
          <p:spPr>
            <a:xfrm>
              <a:off x="3390995" y="712850"/>
              <a:ext cx="152458" cy="1365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53" name="Rectangle : coins arrondis 52">
              <a:extLst>
                <a:ext uri="{FF2B5EF4-FFF2-40B4-BE49-F238E27FC236}">
                  <a16:creationId xmlns:a16="http://schemas.microsoft.com/office/drawing/2014/main" id="{79ABBF55-36D2-8BBA-2896-16CEACCBF8CD}"/>
                </a:ext>
              </a:extLst>
            </p:cNvPr>
            <p:cNvSpPr/>
            <p:nvPr/>
          </p:nvSpPr>
          <p:spPr>
            <a:xfrm>
              <a:off x="3614562" y="715110"/>
              <a:ext cx="152458" cy="13654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54" name="Flèche vers la gauche 102">
              <a:extLst>
                <a:ext uri="{FF2B5EF4-FFF2-40B4-BE49-F238E27FC236}">
                  <a16:creationId xmlns:a16="http://schemas.microsoft.com/office/drawing/2014/main" id="{0589651F-2ED2-64DF-EE2C-C0868BEBAC63}"/>
                </a:ext>
              </a:extLst>
            </p:cNvPr>
            <p:cNvSpPr/>
            <p:nvPr/>
          </p:nvSpPr>
          <p:spPr>
            <a:xfrm rot="16200000">
              <a:off x="3399876" y="905705"/>
              <a:ext cx="134697" cy="99706"/>
            </a:xfrm>
            <a:prstGeom prst="lef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55" name="Rectangle : coins arrondis 54">
              <a:extLst>
                <a:ext uri="{FF2B5EF4-FFF2-40B4-BE49-F238E27FC236}">
                  <a16:creationId xmlns:a16="http://schemas.microsoft.com/office/drawing/2014/main" id="{107AC05E-681A-8D60-AD56-18F3E0CCE687}"/>
                </a:ext>
              </a:extLst>
            </p:cNvPr>
            <p:cNvSpPr/>
            <p:nvPr/>
          </p:nvSpPr>
          <p:spPr>
            <a:xfrm>
              <a:off x="3395940" y="1092153"/>
              <a:ext cx="152458" cy="13654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 dirty="0"/>
            </a:p>
          </p:txBody>
        </p:sp>
        <p:sp>
          <p:nvSpPr>
            <p:cNvPr id="56" name="Flèche vers la gauche 102">
              <a:extLst>
                <a:ext uri="{FF2B5EF4-FFF2-40B4-BE49-F238E27FC236}">
                  <a16:creationId xmlns:a16="http://schemas.microsoft.com/office/drawing/2014/main" id="{6C2E6C9F-6FD0-83B4-0991-758081921238}"/>
                </a:ext>
              </a:extLst>
            </p:cNvPr>
            <p:cNvSpPr/>
            <p:nvPr/>
          </p:nvSpPr>
          <p:spPr>
            <a:xfrm rot="16200000">
              <a:off x="3163337" y="912046"/>
              <a:ext cx="134697" cy="99706"/>
            </a:xfrm>
            <a:prstGeom prst="lef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58" name="Flèche vers la gauche 102">
              <a:extLst>
                <a:ext uri="{FF2B5EF4-FFF2-40B4-BE49-F238E27FC236}">
                  <a16:creationId xmlns:a16="http://schemas.microsoft.com/office/drawing/2014/main" id="{C6122A62-DEDB-143D-9C4C-4F136272348B}"/>
                </a:ext>
              </a:extLst>
            </p:cNvPr>
            <p:cNvSpPr/>
            <p:nvPr/>
          </p:nvSpPr>
          <p:spPr>
            <a:xfrm rot="16200000">
              <a:off x="3626850" y="915198"/>
              <a:ext cx="134697" cy="99706"/>
            </a:xfrm>
            <a:prstGeom prst="lef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3C62CC18-D50F-05B5-2B4E-44C68223B0F6}"/>
                </a:ext>
              </a:extLst>
            </p:cNvPr>
            <p:cNvSpPr/>
            <p:nvPr/>
          </p:nvSpPr>
          <p:spPr>
            <a:xfrm>
              <a:off x="3614861" y="1092153"/>
              <a:ext cx="152458" cy="13654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 dirty="0"/>
            </a:p>
          </p:txBody>
        </p:sp>
        <p:sp>
          <p:nvSpPr>
            <p:cNvPr id="82" name="Rectangle : coins arrondis 81">
              <a:extLst>
                <a:ext uri="{FF2B5EF4-FFF2-40B4-BE49-F238E27FC236}">
                  <a16:creationId xmlns:a16="http://schemas.microsoft.com/office/drawing/2014/main" id="{385C251C-C5D2-DA05-0855-70841FABB57D}"/>
                </a:ext>
              </a:extLst>
            </p:cNvPr>
            <p:cNvSpPr/>
            <p:nvPr/>
          </p:nvSpPr>
          <p:spPr>
            <a:xfrm>
              <a:off x="3155250" y="1092153"/>
              <a:ext cx="152458" cy="13654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 dirty="0"/>
            </a:p>
          </p:txBody>
        </p:sp>
        <p:sp>
          <p:nvSpPr>
            <p:cNvPr id="90" name="ZoneTexte 89">
              <a:extLst>
                <a:ext uri="{FF2B5EF4-FFF2-40B4-BE49-F238E27FC236}">
                  <a16:creationId xmlns:a16="http://schemas.microsoft.com/office/drawing/2014/main" id="{05C87663-C8BE-5B22-D3A9-0D526CA504D5}"/>
                </a:ext>
              </a:extLst>
            </p:cNvPr>
            <p:cNvSpPr txBox="1"/>
            <p:nvPr/>
          </p:nvSpPr>
          <p:spPr>
            <a:xfrm>
              <a:off x="2994535" y="1230878"/>
              <a:ext cx="10450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" noProof="0" dirty="0"/>
                <a:t>Simplest representations of each </a:t>
              </a:r>
              <a:r>
                <a:rPr lang="en-GB" sz="600" dirty="0"/>
                <a:t>dataset are </a:t>
              </a:r>
              <a:r>
                <a:rPr lang="en-GB" sz="600" noProof="0" dirty="0"/>
                <a:t>pooled</a:t>
              </a:r>
            </a:p>
          </p:txBody>
        </p:sp>
        <p:sp>
          <p:nvSpPr>
            <p:cNvPr id="92" name="Rectangle : coins arrondis 91">
              <a:extLst>
                <a:ext uri="{FF2B5EF4-FFF2-40B4-BE49-F238E27FC236}">
                  <a16:creationId xmlns:a16="http://schemas.microsoft.com/office/drawing/2014/main" id="{339A8178-6725-FB49-4421-8B808E598738}"/>
                </a:ext>
              </a:extLst>
            </p:cNvPr>
            <p:cNvSpPr/>
            <p:nvPr/>
          </p:nvSpPr>
          <p:spPr>
            <a:xfrm>
              <a:off x="3390604" y="1700976"/>
              <a:ext cx="152458" cy="13654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93" name="Flèche vers la gauche 102">
              <a:extLst>
                <a:ext uri="{FF2B5EF4-FFF2-40B4-BE49-F238E27FC236}">
                  <a16:creationId xmlns:a16="http://schemas.microsoft.com/office/drawing/2014/main" id="{E2A104E4-9269-786F-3EF9-24A2BB962DEF}"/>
                </a:ext>
              </a:extLst>
            </p:cNvPr>
            <p:cNvSpPr/>
            <p:nvPr/>
          </p:nvSpPr>
          <p:spPr>
            <a:xfrm rot="16200000">
              <a:off x="3419905" y="1561901"/>
              <a:ext cx="106014" cy="55404"/>
            </a:xfrm>
            <a:prstGeom prst="leftArrow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FAA6E8D5-4DEE-F577-F82E-B5DC7DE2C760}"/>
              </a:ext>
            </a:extLst>
          </p:cNvPr>
          <p:cNvGrpSpPr/>
          <p:nvPr/>
        </p:nvGrpSpPr>
        <p:grpSpPr>
          <a:xfrm>
            <a:off x="3508671" y="433331"/>
            <a:ext cx="736128" cy="1447333"/>
            <a:chOff x="846428" y="435670"/>
            <a:chExt cx="736128" cy="1447333"/>
          </a:xfrm>
        </p:grpSpPr>
        <p:sp>
          <p:nvSpPr>
            <p:cNvPr id="79" name="ZoneTexte 78">
              <a:extLst>
                <a:ext uri="{FF2B5EF4-FFF2-40B4-BE49-F238E27FC236}">
                  <a16:creationId xmlns:a16="http://schemas.microsoft.com/office/drawing/2014/main" id="{18AE7EF2-DF27-ABBF-9043-493680FCA0E5}"/>
                </a:ext>
              </a:extLst>
            </p:cNvPr>
            <p:cNvSpPr txBox="1"/>
            <p:nvPr/>
          </p:nvSpPr>
          <p:spPr>
            <a:xfrm>
              <a:off x="846428" y="435670"/>
              <a:ext cx="7361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b="1" dirty="0">
                  <a:solidFill>
                    <a:srgbClr val="C00000"/>
                  </a:solidFill>
                </a:rPr>
                <a:t>Early Integration</a:t>
              </a:r>
            </a:p>
          </p:txBody>
        </p:sp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F978B96B-7472-FF63-1B51-02DE72DFE42C}"/>
                </a:ext>
              </a:extLst>
            </p:cNvPr>
            <p:cNvSpPr/>
            <p:nvPr/>
          </p:nvSpPr>
          <p:spPr>
            <a:xfrm>
              <a:off x="851530" y="726435"/>
              <a:ext cx="697802" cy="19705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125" name="Rectangle : coins arrondis 124">
              <a:extLst>
                <a:ext uri="{FF2B5EF4-FFF2-40B4-BE49-F238E27FC236}">
                  <a16:creationId xmlns:a16="http://schemas.microsoft.com/office/drawing/2014/main" id="{D5C359F6-F32D-ABEC-8AB5-5F852297E03B}"/>
                </a:ext>
              </a:extLst>
            </p:cNvPr>
            <p:cNvSpPr/>
            <p:nvPr/>
          </p:nvSpPr>
          <p:spPr>
            <a:xfrm>
              <a:off x="1129002" y="1746460"/>
              <a:ext cx="152458" cy="13654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62" name="Flèche vers la gauche 102">
              <a:extLst>
                <a:ext uri="{FF2B5EF4-FFF2-40B4-BE49-F238E27FC236}">
                  <a16:creationId xmlns:a16="http://schemas.microsoft.com/office/drawing/2014/main" id="{057ACBAC-4E5B-46D4-80AA-FC67C653A797}"/>
                </a:ext>
              </a:extLst>
            </p:cNvPr>
            <p:cNvSpPr/>
            <p:nvPr/>
          </p:nvSpPr>
          <p:spPr>
            <a:xfrm rot="16200000">
              <a:off x="925414" y="1205877"/>
              <a:ext cx="566364" cy="60771"/>
            </a:xfrm>
            <a:prstGeom prst="lef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88" name="Flèche vers la gauche 102">
              <a:extLst>
                <a:ext uri="{FF2B5EF4-FFF2-40B4-BE49-F238E27FC236}">
                  <a16:creationId xmlns:a16="http://schemas.microsoft.com/office/drawing/2014/main" id="{03AA402C-CBF6-44D8-9606-1B06F38394CB}"/>
                </a:ext>
              </a:extLst>
            </p:cNvPr>
            <p:cNvSpPr/>
            <p:nvPr/>
          </p:nvSpPr>
          <p:spPr>
            <a:xfrm rot="16200000">
              <a:off x="1158303" y="1612631"/>
              <a:ext cx="106014" cy="55404"/>
            </a:xfrm>
            <a:prstGeom prst="leftArrow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94" name="Rectangle : coins arrondis 93">
              <a:extLst>
                <a:ext uri="{FF2B5EF4-FFF2-40B4-BE49-F238E27FC236}">
                  <a16:creationId xmlns:a16="http://schemas.microsoft.com/office/drawing/2014/main" id="{45855619-7FA6-FB67-2EA8-C56F028848A6}"/>
                </a:ext>
              </a:extLst>
            </p:cNvPr>
            <p:cNvSpPr/>
            <p:nvPr/>
          </p:nvSpPr>
          <p:spPr>
            <a:xfrm>
              <a:off x="885484" y="755942"/>
              <a:ext cx="152458" cy="13654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95" name="Rectangle : coins arrondis 94">
              <a:extLst>
                <a:ext uri="{FF2B5EF4-FFF2-40B4-BE49-F238E27FC236}">
                  <a16:creationId xmlns:a16="http://schemas.microsoft.com/office/drawing/2014/main" id="{FE26F8C4-58D0-5FC3-E9EE-BEC92C84DF59}"/>
                </a:ext>
              </a:extLst>
            </p:cNvPr>
            <p:cNvSpPr/>
            <p:nvPr/>
          </p:nvSpPr>
          <p:spPr>
            <a:xfrm>
              <a:off x="1122524" y="755765"/>
              <a:ext cx="152458" cy="13654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96" name="Rectangle : coins arrondis 95">
              <a:extLst>
                <a:ext uri="{FF2B5EF4-FFF2-40B4-BE49-F238E27FC236}">
                  <a16:creationId xmlns:a16="http://schemas.microsoft.com/office/drawing/2014/main" id="{2C33D8E6-3D07-9E2C-6687-259E3766FBE8}"/>
                </a:ext>
              </a:extLst>
            </p:cNvPr>
            <p:cNvSpPr/>
            <p:nvPr/>
          </p:nvSpPr>
          <p:spPr>
            <a:xfrm>
              <a:off x="1346091" y="758025"/>
              <a:ext cx="152458" cy="13654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1C4A4276-6225-A392-D1B1-F9B944F951C1}"/>
              </a:ext>
            </a:extLst>
          </p:cNvPr>
          <p:cNvSpPr txBox="1"/>
          <p:nvPr/>
        </p:nvSpPr>
        <p:spPr>
          <a:xfrm>
            <a:off x="1719864" y="1647072"/>
            <a:ext cx="7084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b="1" dirty="0"/>
              <a:t>&lt;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92F816F-E54C-EEE7-556A-29AB2DF2C066}"/>
              </a:ext>
            </a:extLst>
          </p:cNvPr>
          <p:cNvSpPr txBox="1"/>
          <p:nvPr/>
        </p:nvSpPr>
        <p:spPr>
          <a:xfrm>
            <a:off x="3156247" y="1647072"/>
            <a:ext cx="7084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b="1" dirty="0"/>
              <a:t>=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D294A4D-D341-968E-FEEA-88271B3E63DA}"/>
              </a:ext>
            </a:extLst>
          </p:cNvPr>
          <p:cNvSpPr txBox="1"/>
          <p:nvPr/>
        </p:nvSpPr>
        <p:spPr>
          <a:xfrm>
            <a:off x="4036970" y="1658864"/>
            <a:ext cx="7084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b="1" dirty="0"/>
              <a:t>&lt;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9F425873-ADDB-3EBA-F028-F2A99550A0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0748" y="1598280"/>
            <a:ext cx="417263" cy="417263"/>
          </a:xfrm>
          <a:prstGeom prst="rect">
            <a:avLst/>
          </a:prstGeom>
        </p:spPr>
      </p:pic>
      <p:pic>
        <p:nvPicPr>
          <p:cNvPr id="23" name="Graphique 22" descr="Eau avec un remplissage uni">
            <a:extLst>
              <a:ext uri="{FF2B5EF4-FFF2-40B4-BE49-F238E27FC236}">
                <a16:creationId xmlns:a16="http://schemas.microsoft.com/office/drawing/2014/main" id="{681235ED-EF07-5039-644E-CE8150C8E2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62" y="142039"/>
            <a:ext cx="223098" cy="22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603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205</TotalTime>
  <Words>44</Words>
  <Application>Microsoft Macintosh PowerPoint</Application>
  <PresentationFormat>Personnalisé</PresentationFormat>
  <Paragraphs>17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>Microsoft Office User</cp:lastModifiedBy>
  <cp:revision>25</cp:revision>
  <dcterms:created xsi:type="dcterms:W3CDTF">2025-07-09T12:46:27Z</dcterms:created>
  <dcterms:modified xsi:type="dcterms:W3CDTF">2025-07-30T08:19:36Z</dcterms:modified>
</cp:coreProperties>
</file>